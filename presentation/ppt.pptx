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noFill/>
          <a:ln w="10972">
            <a:solidFill>
              <a:srgbClr val="2B5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05840" cy="64008"/>
          </a:xfrm>
          <a:prstGeom prst="rect">
            <a:avLst/>
          </a:prstGeom>
          <a:solidFill>
            <a:srgbClr val="4D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ura_slide_1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30352"/>
            <a:ext cx="109728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noFill/>
          <a:ln w="10972">
            <a:solidFill>
              <a:srgbClr val="2B5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05840" cy="64008"/>
          </a:xfrm>
          <a:prstGeom prst="rect">
            <a:avLst/>
          </a:prstGeom>
          <a:solidFill>
            <a:srgbClr val="4D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ura_slide_2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30352"/>
            <a:ext cx="109728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noFill/>
          <a:ln w="10972">
            <a:solidFill>
              <a:srgbClr val="2B5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05840" cy="64008"/>
          </a:xfrm>
          <a:prstGeom prst="rect">
            <a:avLst/>
          </a:prstGeom>
          <a:solidFill>
            <a:srgbClr val="4D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ura_slide_3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30352"/>
            <a:ext cx="109728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noFill/>
          <a:ln w="10972">
            <a:solidFill>
              <a:srgbClr val="2B5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05840" cy="64008"/>
          </a:xfrm>
          <a:prstGeom prst="rect">
            <a:avLst/>
          </a:prstGeom>
          <a:solidFill>
            <a:srgbClr val="4D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ura_slide_4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30352"/>
            <a:ext cx="109728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noFill/>
          <a:ln w="10972">
            <a:solidFill>
              <a:srgbClr val="2B5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05840" cy="64008"/>
          </a:xfrm>
          <a:prstGeom prst="rect">
            <a:avLst/>
          </a:prstGeom>
          <a:solidFill>
            <a:srgbClr val="4D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ura_slide_5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30352"/>
            <a:ext cx="109728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noFill/>
          <a:ln w="10972">
            <a:solidFill>
              <a:srgbClr val="2B5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05840" cy="64008"/>
          </a:xfrm>
          <a:prstGeom prst="rect">
            <a:avLst/>
          </a:prstGeom>
          <a:solidFill>
            <a:srgbClr val="4D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ura_slide_6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30352"/>
            <a:ext cx="109728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noFill/>
          <a:ln w="15240">
            <a:solidFill>
              <a:srgbClr val="2B5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05840" cy="64008"/>
          </a:xfrm>
          <a:prstGeom prst="rect">
            <a:avLst/>
          </a:prstGeom>
          <a:solidFill>
            <a:srgbClr val="4DB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EEF4FA"/>
                </a:solidFill>
                <a:latin typeface="Aptos"/>
              </a:rPr>
              <a:t>WHY AURA IS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9FB4CA"/>
                </a:solidFill>
                <a:latin typeface="Aptos"/>
              </a:rPr>
              <a:t>Not just fraud detection — real-time, explainable transaction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10972800" cy="658368"/>
          </a:xfrm>
          <a:prstGeom prst="roundRect">
            <a:avLst/>
          </a:prstGeom>
          <a:solidFill>
            <a:srgbClr val="111F31"/>
          </a:solidFill>
          <a:ln>
            <a:solidFill>
              <a:srgbClr val="25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7C6E7"/>
                </a:solidFill>
                <a:latin typeface="Aptos"/>
              </a:rPr>
              <a:t>01  DETECT → 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80136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2560320"/>
            <a:ext cx="10972800" cy="658368"/>
          </a:xfrm>
          <a:prstGeom prst="roundRect">
            <a:avLst/>
          </a:prstGeom>
          <a:solidFill>
            <a:srgbClr val="111F31"/>
          </a:solidFill>
          <a:ln>
            <a:solidFill>
              <a:srgbClr val="25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7C6E7"/>
                </a:solidFill>
                <a:latin typeface="Aptos"/>
              </a:rPr>
              <a:t>AURA doesn't only flag suspicious activity. It automatically chooses APPROVE, VERIFY or BLOCK before money moves.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624327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4360" y="3383279"/>
            <a:ext cx="10972800" cy="658368"/>
          </a:xfrm>
          <a:prstGeom prst="roundRect">
            <a:avLst/>
          </a:prstGeom>
          <a:solidFill>
            <a:srgbClr val="111F31"/>
          </a:solidFill>
          <a:ln>
            <a:solidFill>
              <a:srgbClr val="25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49300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7C6E7"/>
                </a:solidFill>
                <a:latin typeface="Aptos"/>
              </a:rPr>
              <a:t>02  ONE SECURITY BRAIN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447287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94360" y="4206240"/>
            <a:ext cx="10972800" cy="658368"/>
          </a:xfrm>
          <a:prstGeom prst="roundRect">
            <a:avLst/>
          </a:prstGeom>
          <a:solidFill>
            <a:srgbClr val="111F31"/>
          </a:solidFill>
          <a:ln>
            <a:solidFill>
              <a:srgbClr val="25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3159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7C6E7"/>
                </a:solidFill>
                <a:latin typeface="Aptos"/>
              </a:rPr>
              <a:t>Customer app + bank/manager console share one live risk engine and one source of truth.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427024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4360" y="5029200"/>
            <a:ext cx="10972800" cy="658368"/>
          </a:xfrm>
          <a:prstGeom prst="roundRect">
            <a:avLst/>
          </a:prstGeom>
          <a:solidFill>
            <a:srgbClr val="111F31"/>
          </a:solidFill>
          <a:ln>
            <a:solidFill>
              <a:srgbClr val="25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513892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7C6E7"/>
                </a:solidFill>
                <a:latin typeface="Aptos"/>
              </a:rPr>
              <a:t>03  EXPLAINABLE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509320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noFill/>
          <a:ln w="15240">
            <a:solidFill>
              <a:srgbClr val="2B5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05840" cy="64008"/>
          </a:xfrm>
          <a:prstGeom prst="rect">
            <a:avLst/>
          </a:prstGeom>
          <a:solidFill>
            <a:srgbClr val="4DB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EEF4FA"/>
                </a:solidFill>
                <a:latin typeface="Aptos"/>
              </a:rPr>
              <a:t>HOW AURA WORKS — AND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9FB4CA"/>
                </a:solidFill>
                <a:latin typeface="Aptos"/>
              </a:rPr>
              <a:t>Transaction → Signals → Risk Score → Decision → Action → Audit History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4208"/>
            <a:ext cx="1783080" cy="566928"/>
          </a:xfrm>
          <a:prstGeom prst="roundRect">
            <a:avLst/>
          </a:prstGeom>
          <a:solidFill>
            <a:srgbClr val="122438"/>
          </a:solidFill>
          <a:ln>
            <a:solidFill>
              <a:srgbClr val="3766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5FA"/>
                </a:solidFill>
                <a:latin typeface="Aptos"/>
              </a:rPr>
              <a:t>TRANSACTION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664208"/>
            <a:ext cx="1783080" cy="566928"/>
          </a:xfrm>
          <a:prstGeom prst="roundRect">
            <a:avLst/>
          </a:prstGeom>
          <a:solidFill>
            <a:srgbClr val="122438"/>
          </a:solidFill>
          <a:ln>
            <a:solidFill>
              <a:srgbClr val="3766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5FA"/>
                </a:solidFill>
                <a:latin typeface="Aptos"/>
              </a:rPr>
              <a:t>RISK SIGNALS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664208"/>
            <a:ext cx="1783080" cy="566928"/>
          </a:xfrm>
          <a:prstGeom prst="roundRect">
            <a:avLst/>
          </a:prstGeom>
          <a:solidFill>
            <a:srgbClr val="122438"/>
          </a:solidFill>
          <a:ln>
            <a:solidFill>
              <a:srgbClr val="3766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5FA"/>
                </a:solidFill>
                <a:latin typeface="Aptos"/>
              </a:rPr>
              <a:t>0–100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664208"/>
            <a:ext cx="1783080" cy="566928"/>
          </a:xfrm>
          <a:prstGeom prst="roundRect">
            <a:avLst/>
          </a:prstGeom>
          <a:solidFill>
            <a:srgbClr val="122438"/>
          </a:solidFill>
          <a:ln>
            <a:solidFill>
              <a:srgbClr val="3766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5FA"/>
                </a:solidFill>
                <a:latin typeface="Aptos"/>
              </a:rPr>
              <a:t>DECISION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1664208"/>
            <a:ext cx="1783080" cy="566928"/>
          </a:xfrm>
          <a:prstGeom prst="roundRect">
            <a:avLst/>
          </a:prstGeom>
          <a:solidFill>
            <a:srgbClr val="122438"/>
          </a:solidFill>
          <a:ln>
            <a:solidFill>
              <a:srgbClr val="3766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0F5FA"/>
                </a:solidFill>
                <a:latin typeface="Aptos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EEF4FA"/>
                </a:solidFill>
                <a:latin typeface="Aptos"/>
              </a:rPr>
              <a:t>TRANSACTION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80360"/>
            <a:ext cx="28346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EEF4FA"/>
                </a:solidFill>
                <a:latin typeface="Aptos"/>
              </a:rPr>
              <a:t>RISK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51460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EEF4FA"/>
                </a:solidFill>
                <a:latin typeface="Aptos"/>
              </a:rPr>
              <a:t>0–100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880360"/>
            <a:ext cx="726948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EEF4FA"/>
                </a:solidFill>
                <a:latin typeface="Aptos"/>
              </a:rP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349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9FB4CA"/>
                </a:solidFill>
                <a:latin typeface="Aptos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276088"/>
            <a:ext cx="9418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EEF4FA"/>
                </a:solidFill>
                <a:latin typeface="Aptos"/>
              </a:rPr>
              <a:t>Decision logic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</Words>
  <Application>Microsoft Office PowerPoint</Application>
  <PresentationFormat>Widescreen</PresentationFormat>
  <Paragraphs>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Mittal Radadiya</cp:lastModifiedBy>
  <cp:revision>1</cp:revision>
  <dcterms:modified xsi:type="dcterms:W3CDTF">2026-09-15T14:03:00Z</dcterms:modified>
</cp:coreProperties>
</file>